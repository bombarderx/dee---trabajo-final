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x="18288000" cy="10287000"/>
  <p:notesSz cx="6858000" cy="9144000"/>
  <p:embeddedFontLst>
    <p:embeddedFont>
      <p:font typeface="Futura Display" charset="1" panose="020B0504050904050C04"/>
      <p:regular r:id="rId13"/>
    </p:embeddedFont>
    <p:embeddedFont>
      <p:font typeface="Arimo Bold" charset="1" panose="020B0704020202020204"/>
      <p:regular r:id="rId14"/>
    </p:embeddedFont>
    <p:embeddedFont>
      <p:font typeface="Arimo" charset="1" panose="020B0604020202020204"/>
      <p:regular r:id="rId15"/>
    </p:embeddedFont>
    <p:embeddedFont>
      <p:font typeface="Arimo Bold Italics" charset="1" panose="020B0704020202090204"/>
      <p:regular r:id="rId16"/>
    </p:embeddedFont>
    <p:embeddedFont>
      <p:font typeface="Arimo Italics" charset="1" panose="020B0604020202090204"/>
      <p:regular r:id="rId1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fonts/font13.fntdata" Type="http://schemas.openxmlformats.org/officeDocument/2006/relationships/font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https://www.sanidad.gob.es/estadEstudios/estadisticas/encuestaSaludEspana/ESdE2023/ESdE2023_MOD3_REL.xlsx" TargetMode="External" Type="http://schemas.openxmlformats.org/officeDocument/2006/relationships/hyperlink"/><Relationship Id="rId11" Target="https://www.ine.es/jaxiT3/Tabla.htm?t=67988" TargetMode="External" Type="http://schemas.openxmlformats.org/officeDocument/2006/relationships/hyperlink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9.jpeg" Type="http://schemas.openxmlformats.org/officeDocument/2006/relationships/image"/><Relationship Id="rId5" Target="https://www.hacienda.gob.es/es-ES/Areas%20Tematicas/CMTabacos/Paginas/Red-Expendedurias-y-PVR.aspx" TargetMode="External" Type="http://schemas.openxmlformats.org/officeDocument/2006/relationships/hyperlink"/><Relationship Id="rId6" Target="https://dadesobertes.gva.es/es/dataset/sanidad-sip-secciones-censales" TargetMode="External" Type="http://schemas.openxmlformats.org/officeDocument/2006/relationships/hyperlink"/><Relationship Id="rId7" Target="https://www.ine.es/jaxiT3/Tabla.htm?t=31250" TargetMode="External" Type="http://schemas.openxmlformats.org/officeDocument/2006/relationships/hyperlink"/><Relationship Id="rId8" Target="https://www.ine.es/jaxi/Tabla.htm?tpx=72061&amp;L=0" TargetMode="External" Type="http://schemas.openxmlformats.org/officeDocument/2006/relationships/hyperlink"/><Relationship Id="rId9" Target="https://www.sanidad.gob.es/estadEstudios/estadisticas/encuestaSaludEspana/ESdE2023/ESdE2023_MOD3_REL.xlsx" TargetMode="External" Type="http://schemas.openxmlformats.org/officeDocument/2006/relationships/hyperlink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10.png" Type="http://schemas.openxmlformats.org/officeDocument/2006/relationships/image"/><Relationship Id="rId5" Target="../media/image11.svg" Type="http://schemas.openxmlformats.org/officeDocument/2006/relationships/image"/><Relationship Id="rId6" Target="../media/image12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13.png" Type="http://schemas.openxmlformats.org/officeDocument/2006/relationships/image"/><Relationship Id="rId5" Target="../media/image14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15.png" Type="http://schemas.openxmlformats.org/officeDocument/2006/relationships/image"/><Relationship Id="rId5" Target="../media/image16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17.png" Type="http://schemas.openxmlformats.org/officeDocument/2006/relationships/image"/><Relationship Id="rId5" Target="../media/image18.svg" Type="http://schemas.openxmlformats.org/officeDocument/2006/relationships/image"/><Relationship Id="rId6" Target="https://github.com/Bombarderx/DEE---Trabajo-Final/tree/main" TargetMode="External" Type="http://schemas.openxmlformats.org/officeDocument/2006/relationships/hyperlink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2F3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9144000" y="7889068"/>
            <a:ext cx="2208695" cy="1783264"/>
          </a:xfrm>
          <a:custGeom>
            <a:avLst/>
            <a:gdLst/>
            <a:ahLst/>
            <a:cxnLst/>
            <a:rect r="r" b="b" t="t" l="l"/>
            <a:pathLst>
              <a:path h="1783264" w="2208695">
                <a:moveTo>
                  <a:pt x="0" y="0"/>
                </a:moveTo>
                <a:lnTo>
                  <a:pt x="2208695" y="0"/>
                </a:lnTo>
                <a:lnTo>
                  <a:pt x="2208695" y="1783264"/>
                </a:lnTo>
                <a:lnTo>
                  <a:pt x="0" y="178326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3032698">
            <a:off x="-1999608" y="7669602"/>
            <a:ext cx="5380399" cy="6368825"/>
          </a:xfrm>
          <a:custGeom>
            <a:avLst/>
            <a:gdLst/>
            <a:ahLst/>
            <a:cxnLst/>
            <a:rect r="r" b="b" t="t" l="l"/>
            <a:pathLst>
              <a:path h="6368825" w="5380399">
                <a:moveTo>
                  <a:pt x="0" y="0"/>
                </a:moveTo>
                <a:lnTo>
                  <a:pt x="5380398" y="0"/>
                </a:lnTo>
                <a:lnTo>
                  <a:pt x="5380398" y="6368826"/>
                </a:lnTo>
                <a:lnTo>
                  <a:pt x="0" y="636882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80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8434932">
            <a:off x="15586122" y="-3106629"/>
            <a:ext cx="4865865" cy="5759767"/>
          </a:xfrm>
          <a:custGeom>
            <a:avLst/>
            <a:gdLst/>
            <a:ahLst/>
            <a:cxnLst/>
            <a:rect r="r" b="b" t="t" l="l"/>
            <a:pathLst>
              <a:path h="5759767" w="4865865">
                <a:moveTo>
                  <a:pt x="0" y="0"/>
                </a:moveTo>
                <a:lnTo>
                  <a:pt x="4865865" y="0"/>
                </a:lnTo>
                <a:lnTo>
                  <a:pt x="4865865" y="5759767"/>
                </a:lnTo>
                <a:lnTo>
                  <a:pt x="0" y="575976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3853032" y="5143500"/>
            <a:ext cx="3406268" cy="2514445"/>
          </a:xfrm>
          <a:custGeom>
            <a:avLst/>
            <a:gdLst/>
            <a:ahLst/>
            <a:cxnLst/>
            <a:rect r="r" b="b" t="t" l="l"/>
            <a:pathLst>
              <a:path h="2514445" w="3406268">
                <a:moveTo>
                  <a:pt x="0" y="0"/>
                </a:moveTo>
                <a:lnTo>
                  <a:pt x="3406268" y="0"/>
                </a:lnTo>
                <a:lnTo>
                  <a:pt x="3406268" y="2514445"/>
                </a:lnTo>
                <a:lnTo>
                  <a:pt x="0" y="251444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028700" y="1143000"/>
            <a:ext cx="15342653" cy="35082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615"/>
              </a:lnSpc>
            </a:pPr>
            <a:r>
              <a:rPr lang="en-US" sz="12490">
                <a:solidFill>
                  <a:srgbClr val="355763"/>
                </a:solidFill>
                <a:latin typeface="Futura Display"/>
                <a:ea typeface="Futura Display"/>
                <a:cs typeface="Futura Display"/>
                <a:sym typeface="Futura Display"/>
              </a:rPr>
              <a:t>ANÁLISIS ESPACIAL DEL TABAQUISMO EN ESPAÑA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5175602"/>
            <a:ext cx="12726815" cy="8235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580"/>
              </a:lnSpc>
            </a:pPr>
            <a:r>
              <a:rPr lang="en-US" sz="4700" b="true">
                <a:solidFill>
                  <a:srgbClr val="355763"/>
                </a:solidFill>
                <a:latin typeface="Arimo Bold"/>
                <a:ea typeface="Arimo Bold"/>
                <a:cs typeface="Arimo Bold"/>
                <a:sym typeface="Arimo Bold"/>
              </a:rPr>
              <a:t>Su distribución, c</a:t>
            </a:r>
            <a:r>
              <a:rPr lang="en-US" sz="4700" b="true">
                <a:solidFill>
                  <a:srgbClr val="355763"/>
                </a:solidFill>
                <a:latin typeface="Arimo Bold"/>
                <a:ea typeface="Arimo Bold"/>
                <a:cs typeface="Arimo Bold"/>
                <a:sym typeface="Arimo Bold"/>
              </a:rPr>
              <a:t>ausas y consecuencias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28700" y="6392880"/>
            <a:ext cx="8115300" cy="18637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00"/>
              </a:lnSpc>
            </a:pPr>
            <a:r>
              <a:rPr lang="en-US" sz="3500">
                <a:solidFill>
                  <a:srgbClr val="5B6C7A"/>
                </a:solidFill>
                <a:latin typeface="Arimo"/>
                <a:ea typeface="Arimo"/>
                <a:cs typeface="Arimo"/>
                <a:sym typeface="Arimo"/>
              </a:rPr>
              <a:t>Enric Serrano Peris</a:t>
            </a:r>
          </a:p>
          <a:p>
            <a:pPr algn="l">
              <a:lnSpc>
                <a:spcPts val="4900"/>
              </a:lnSpc>
            </a:pPr>
            <a:r>
              <a:rPr lang="en-US" sz="3500">
                <a:solidFill>
                  <a:srgbClr val="5B6C7A"/>
                </a:solidFill>
                <a:latin typeface="Arimo"/>
                <a:ea typeface="Arimo"/>
                <a:cs typeface="Arimo"/>
                <a:sym typeface="Arimo"/>
              </a:rPr>
              <a:t>Datos Espaciales y Espaciotemporales</a:t>
            </a:r>
          </a:p>
          <a:p>
            <a:pPr algn="l">
              <a:lnSpc>
                <a:spcPts val="4900"/>
              </a:lnSpc>
            </a:pPr>
            <a:r>
              <a:rPr lang="en-US" sz="3500">
                <a:solidFill>
                  <a:srgbClr val="5B6C7A"/>
                </a:solidFill>
                <a:latin typeface="Arimo"/>
                <a:ea typeface="Arimo"/>
                <a:cs typeface="Arimo"/>
                <a:sym typeface="Arimo"/>
              </a:rPr>
              <a:t>05/06/2026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-8524868">
            <a:off x="16722608" y="7375281"/>
            <a:ext cx="4865865" cy="5759767"/>
          </a:xfrm>
          <a:custGeom>
            <a:avLst/>
            <a:gdLst/>
            <a:ahLst/>
            <a:cxnLst/>
            <a:rect r="r" b="b" t="t" l="l"/>
            <a:pathLst>
              <a:path h="5759767" w="4865865">
                <a:moveTo>
                  <a:pt x="0" y="0"/>
                </a:moveTo>
                <a:lnTo>
                  <a:pt x="4865865" y="0"/>
                </a:lnTo>
                <a:lnTo>
                  <a:pt x="4865865" y="5759767"/>
                </a:lnTo>
                <a:lnTo>
                  <a:pt x="0" y="5759767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2F3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7661542">
            <a:off x="15499410" y="6425050"/>
            <a:ext cx="4865865" cy="5759767"/>
          </a:xfrm>
          <a:custGeom>
            <a:avLst/>
            <a:gdLst/>
            <a:ahLst/>
            <a:cxnLst/>
            <a:rect r="r" b="b" t="t" l="l"/>
            <a:pathLst>
              <a:path h="5759767" w="4865865">
                <a:moveTo>
                  <a:pt x="0" y="0"/>
                </a:moveTo>
                <a:lnTo>
                  <a:pt x="4865865" y="0"/>
                </a:lnTo>
                <a:lnTo>
                  <a:pt x="4865865" y="5759767"/>
                </a:lnTo>
                <a:lnTo>
                  <a:pt x="0" y="575976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-9104713">
            <a:off x="-2182837" y="7260429"/>
            <a:ext cx="4865865" cy="5759767"/>
          </a:xfrm>
          <a:custGeom>
            <a:avLst/>
            <a:gdLst/>
            <a:ahLst/>
            <a:cxnLst/>
            <a:rect r="r" b="b" t="t" l="l"/>
            <a:pathLst>
              <a:path h="5759767" w="4865865">
                <a:moveTo>
                  <a:pt x="4865865" y="5759767"/>
                </a:moveTo>
                <a:lnTo>
                  <a:pt x="0" y="5759767"/>
                </a:lnTo>
                <a:lnTo>
                  <a:pt x="0" y="0"/>
                </a:lnTo>
                <a:lnTo>
                  <a:pt x="4865865" y="0"/>
                </a:lnTo>
                <a:lnTo>
                  <a:pt x="4865865" y="5759767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13914367" y="-1360706"/>
            <a:ext cx="4778812" cy="4778812"/>
            <a:chOff x="0" y="0"/>
            <a:chExt cx="812800" cy="8128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4"/>
              <a:stretch>
                <a:fillRect l="-24931" t="0" r="-24931" b="0"/>
              </a:stretch>
            </a:blipFill>
            <a:ln w="57150" cap="sq">
              <a:solidFill>
                <a:srgbClr val="5B6C7A"/>
              </a:solidFill>
              <a:prstDash val="solid"/>
              <a:miter/>
            </a:ln>
          </p:spPr>
        </p:sp>
      </p:grpSp>
      <p:sp>
        <p:nvSpPr>
          <p:cNvPr name="TextBox 6" id="6"/>
          <p:cNvSpPr txBox="true"/>
          <p:nvPr/>
        </p:nvSpPr>
        <p:spPr>
          <a:xfrm rot="0">
            <a:off x="1028700" y="411806"/>
            <a:ext cx="2727764" cy="13195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056"/>
              </a:lnSpc>
            </a:pPr>
            <a:r>
              <a:rPr lang="en-US" sz="9226">
                <a:solidFill>
                  <a:srgbClr val="355763"/>
                </a:solidFill>
                <a:latin typeface="Futura Display"/>
                <a:ea typeface="Futura Display"/>
                <a:cs typeface="Futura Display"/>
                <a:sym typeface="Futura Display"/>
              </a:rPr>
              <a:t>CÓMO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5057775"/>
            <a:ext cx="8115300" cy="23027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94043" indent="-347021" lvl="1">
              <a:lnSpc>
                <a:spcPts val="4500"/>
              </a:lnSpc>
              <a:buFont typeface="Arial"/>
              <a:buChar char="•"/>
            </a:pPr>
            <a:r>
              <a:rPr lang="en-US" sz="3214">
                <a:solidFill>
                  <a:srgbClr val="355763"/>
                </a:solidFill>
                <a:latin typeface="Arimo"/>
                <a:ea typeface="Arimo"/>
                <a:cs typeface="Arimo"/>
                <a:sym typeface="Arimo"/>
              </a:rPr>
              <a:t>Secciones censales de Valencia</a:t>
            </a:r>
          </a:p>
          <a:p>
            <a:pPr algn="l" marL="694043" indent="-347021" lvl="1">
              <a:lnSpc>
                <a:spcPts val="4500"/>
              </a:lnSpc>
              <a:buFont typeface="Arial"/>
              <a:buChar char="•"/>
            </a:pPr>
            <a:r>
              <a:rPr lang="en-US" sz="3214">
                <a:solidFill>
                  <a:srgbClr val="355763"/>
                </a:solidFill>
                <a:latin typeface="Arimo"/>
                <a:ea typeface="Arimo"/>
                <a:cs typeface="Arimo"/>
                <a:sym typeface="Arimo"/>
              </a:rPr>
              <a:t>Densidad de puntos de venta de tabaco (Estancos y PVR)</a:t>
            </a:r>
          </a:p>
          <a:p>
            <a:pPr algn="l" marL="694043" indent="-347021" lvl="1">
              <a:lnSpc>
                <a:spcPts val="4500"/>
              </a:lnSpc>
              <a:buFont typeface="Arial"/>
              <a:buChar char="•"/>
            </a:pPr>
            <a:r>
              <a:rPr lang="en-US" sz="3214">
                <a:solidFill>
                  <a:srgbClr val="355763"/>
                </a:solidFill>
                <a:latin typeface="Arimo"/>
                <a:ea typeface="Arimo"/>
                <a:cs typeface="Arimo"/>
                <a:sym typeface="Arimo"/>
              </a:rPr>
              <a:t>Renta media por sección censal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872658" y="4899656"/>
            <a:ext cx="7386642" cy="34330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94043" indent="-347021" lvl="1">
              <a:lnSpc>
                <a:spcPts val="4500"/>
              </a:lnSpc>
              <a:buFont typeface="Arial"/>
              <a:buChar char="•"/>
            </a:pPr>
            <a:r>
              <a:rPr lang="en-US" sz="3214">
                <a:solidFill>
                  <a:srgbClr val="355763"/>
                </a:solidFill>
                <a:latin typeface="Arimo"/>
                <a:ea typeface="Arimo"/>
                <a:cs typeface="Arimo"/>
                <a:sym typeface="Arimo"/>
              </a:rPr>
              <a:t>CCAAs de España</a:t>
            </a:r>
          </a:p>
          <a:p>
            <a:pPr algn="l" marL="694043" indent="-347021" lvl="1">
              <a:lnSpc>
                <a:spcPts val="4500"/>
              </a:lnSpc>
              <a:buFont typeface="Arial"/>
              <a:buChar char="•"/>
            </a:pPr>
            <a:r>
              <a:rPr lang="en-US" sz="3214">
                <a:solidFill>
                  <a:srgbClr val="355763"/>
                </a:solidFill>
                <a:latin typeface="Arimo"/>
                <a:ea typeface="Arimo"/>
                <a:cs typeface="Arimo"/>
                <a:sym typeface="Arimo"/>
              </a:rPr>
              <a:t>Defunciones por tumor en vías respiratorias, laringe y EPOC por cada 100.000 habirantes</a:t>
            </a:r>
          </a:p>
          <a:p>
            <a:pPr algn="l" marL="694043" indent="-347021" lvl="1">
              <a:lnSpc>
                <a:spcPts val="4500"/>
              </a:lnSpc>
              <a:buFont typeface="Arial"/>
              <a:buChar char="•"/>
            </a:pPr>
            <a:r>
              <a:rPr lang="en-US" sz="3214">
                <a:solidFill>
                  <a:srgbClr val="355763"/>
                </a:solidFill>
                <a:latin typeface="Arimo"/>
                <a:ea typeface="Arimo"/>
                <a:cs typeface="Arimo"/>
                <a:sym typeface="Arimo"/>
              </a:rPr>
              <a:t>Indice relativo aproximado de cigarrillos consumidos diariamente.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28700" y="3505437"/>
            <a:ext cx="7386642" cy="13195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056"/>
              </a:lnSpc>
            </a:pPr>
            <a:r>
              <a:rPr lang="en-US" sz="9226">
                <a:solidFill>
                  <a:srgbClr val="355763"/>
                </a:solidFill>
                <a:latin typeface="Futura Display"/>
                <a:ea typeface="Futura Display"/>
                <a:cs typeface="Futura Display"/>
                <a:sym typeface="Futura Display"/>
              </a:rPr>
              <a:t>ENFOQUE MICRO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872658" y="3503831"/>
            <a:ext cx="7386642" cy="13195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056"/>
              </a:lnSpc>
            </a:pPr>
            <a:r>
              <a:rPr lang="en-US" sz="9226">
                <a:solidFill>
                  <a:srgbClr val="355763"/>
                </a:solidFill>
                <a:latin typeface="Futura Display"/>
                <a:ea typeface="Futura Display"/>
                <a:cs typeface="Futura Display"/>
                <a:sym typeface="Futura Display"/>
              </a:rPr>
              <a:t>ENFOQUE MACRO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28700" y="1672564"/>
            <a:ext cx="11556078" cy="17185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94043" indent="-347021" lvl="1">
              <a:lnSpc>
                <a:spcPts val="4500"/>
              </a:lnSpc>
              <a:buFont typeface="Arial"/>
              <a:buChar char="•"/>
            </a:pPr>
            <a:r>
              <a:rPr lang="en-US" sz="3214">
                <a:solidFill>
                  <a:srgbClr val="355763"/>
                </a:solidFill>
                <a:latin typeface="Arimo"/>
                <a:ea typeface="Arimo"/>
                <a:cs typeface="Arimo"/>
                <a:sym typeface="Arimo"/>
              </a:rPr>
              <a:t>Análisis bivariante de Moran</a:t>
            </a:r>
          </a:p>
          <a:p>
            <a:pPr algn="l" marL="694043" indent="-347021" lvl="1">
              <a:lnSpc>
                <a:spcPts val="4500"/>
              </a:lnSpc>
              <a:buFont typeface="Arial"/>
              <a:buChar char="•"/>
            </a:pPr>
            <a:r>
              <a:rPr lang="en-US" sz="3214">
                <a:solidFill>
                  <a:srgbClr val="355763"/>
                </a:solidFill>
                <a:latin typeface="Arimo"/>
                <a:ea typeface="Arimo"/>
                <a:cs typeface="Arimo"/>
                <a:sym typeface="Arimo"/>
              </a:rPr>
              <a:t>C</a:t>
            </a:r>
            <a:r>
              <a:rPr lang="en-US" sz="3214">
                <a:solidFill>
                  <a:srgbClr val="355763"/>
                </a:solidFill>
                <a:latin typeface="Arimo"/>
                <a:ea typeface="Arimo"/>
                <a:cs typeface="Arimo"/>
                <a:sym typeface="Arimo"/>
              </a:rPr>
              <a:t>ontraste de hipótesis </a:t>
            </a:r>
          </a:p>
          <a:p>
            <a:pPr algn="l" marL="694043" indent="-347021" lvl="1">
              <a:lnSpc>
                <a:spcPts val="4500"/>
              </a:lnSpc>
              <a:buFont typeface="Arial"/>
              <a:buChar char="•"/>
            </a:pPr>
            <a:r>
              <a:rPr lang="en-US" sz="3214">
                <a:solidFill>
                  <a:srgbClr val="355763"/>
                </a:solidFill>
                <a:latin typeface="Arimo"/>
                <a:ea typeface="Arimo"/>
                <a:cs typeface="Arimo"/>
                <a:sym typeface="Arimo"/>
              </a:rPr>
              <a:t>M</a:t>
            </a:r>
            <a:r>
              <a:rPr lang="en-US" sz="3214">
                <a:solidFill>
                  <a:srgbClr val="355763"/>
                </a:solidFill>
                <a:latin typeface="Arimo"/>
                <a:ea typeface="Arimo"/>
                <a:cs typeface="Arimo"/>
                <a:sym typeface="Arimo"/>
              </a:rPr>
              <a:t>apa LISA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028700" y="7866115"/>
            <a:ext cx="8115300" cy="19538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74981" indent="-237491" lvl="1">
              <a:lnSpc>
                <a:spcPts val="3080"/>
              </a:lnSpc>
              <a:buFont typeface="Arial"/>
              <a:buChar char="•"/>
            </a:pPr>
            <a:r>
              <a:rPr lang="en-US" sz="2200">
                <a:solidFill>
                  <a:srgbClr val="355763"/>
                </a:solidFill>
                <a:latin typeface="Arimo"/>
                <a:ea typeface="Arimo"/>
                <a:cs typeface="Arimo"/>
                <a:sym typeface="Arimo"/>
              </a:rPr>
              <a:t>BBDD:</a:t>
            </a:r>
          </a:p>
          <a:p>
            <a:pPr algn="l" marL="474981" indent="-237491" lvl="1">
              <a:lnSpc>
                <a:spcPts val="3080"/>
              </a:lnSpc>
              <a:buFont typeface="Arial"/>
              <a:buChar char="•"/>
            </a:pPr>
            <a:r>
              <a:rPr lang="en-US" sz="2200" u="sng">
                <a:solidFill>
                  <a:srgbClr val="355763"/>
                </a:solidFill>
                <a:latin typeface="Arimo"/>
                <a:ea typeface="Arimo"/>
                <a:cs typeface="Arimo"/>
                <a:sym typeface="Arimo"/>
                <a:hlinkClick r:id="rId5" tooltip="https://www.hacienda.gob.es/es-ES/Areas%20Tematicas/CMTabacos/Paginas/Red-Expendedurias-y-PVR.aspx"/>
              </a:rPr>
              <a:t>Listado de Expendurías de Tabaco y Timbre y PVR. Ministerio de Hacienda.</a:t>
            </a:r>
          </a:p>
          <a:p>
            <a:pPr algn="l" marL="474981" indent="-237491" lvl="1">
              <a:lnSpc>
                <a:spcPts val="3080"/>
              </a:lnSpc>
              <a:buFont typeface="Arial"/>
              <a:buChar char="•"/>
            </a:pPr>
            <a:r>
              <a:rPr lang="en-US" sz="2200" u="sng">
                <a:solidFill>
                  <a:srgbClr val="355763"/>
                </a:solidFill>
                <a:latin typeface="Arimo"/>
                <a:ea typeface="Arimo"/>
                <a:cs typeface="Arimo"/>
                <a:sym typeface="Arimo"/>
                <a:hlinkClick r:id="rId6" tooltip="https://dadesobertes.gva.es/es/dataset/sanidad-sip-secciones-censales"/>
              </a:rPr>
              <a:t>Secciones censales de València. GVA</a:t>
            </a:r>
          </a:p>
          <a:p>
            <a:pPr algn="l" marL="474981" indent="-237491" lvl="1">
              <a:lnSpc>
                <a:spcPts val="3080"/>
              </a:lnSpc>
              <a:buFont typeface="Arial"/>
              <a:buChar char="•"/>
            </a:pPr>
            <a:r>
              <a:rPr lang="en-US" sz="2200" u="sng">
                <a:solidFill>
                  <a:srgbClr val="355763"/>
                </a:solidFill>
                <a:latin typeface="Arimo"/>
                <a:ea typeface="Arimo"/>
                <a:cs typeface="Arimo"/>
                <a:sym typeface="Arimo"/>
                <a:hlinkClick r:id="rId7" tooltip="https://www.ine.es/jaxiT3/Tabla.htm?t=31250"/>
              </a:rPr>
              <a:t>Renta media y mediana por sección censal, INE.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9872658" y="8437504"/>
            <a:ext cx="8115300" cy="15633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74981" indent="-237491" lvl="1">
              <a:lnSpc>
                <a:spcPts val="3080"/>
              </a:lnSpc>
              <a:buFont typeface="Arial"/>
              <a:buChar char="•"/>
            </a:pPr>
            <a:r>
              <a:rPr lang="en-US" sz="2200">
                <a:solidFill>
                  <a:srgbClr val="355763"/>
                </a:solidFill>
                <a:latin typeface="Arimo"/>
                <a:ea typeface="Arimo"/>
                <a:cs typeface="Arimo"/>
                <a:sym typeface="Arimo"/>
              </a:rPr>
              <a:t>BBDD:</a:t>
            </a:r>
          </a:p>
          <a:p>
            <a:pPr algn="l" marL="474981" indent="-237491" lvl="1">
              <a:lnSpc>
                <a:spcPts val="3080"/>
              </a:lnSpc>
              <a:buFont typeface="Arial"/>
              <a:buChar char="•"/>
            </a:pPr>
            <a:r>
              <a:rPr lang="en-US" sz="2200" u="sng">
                <a:solidFill>
                  <a:srgbClr val="355763"/>
                </a:solidFill>
                <a:latin typeface="Arimo"/>
                <a:ea typeface="Arimo"/>
                <a:cs typeface="Arimo"/>
                <a:sym typeface="Arimo"/>
                <a:hlinkClick r:id="rId8" tooltip="https://www.ine.es/jaxi/Tabla.htm?tpx=72061&amp;L=0"/>
              </a:rPr>
              <a:t>Causa Básica de Defunción, INE</a:t>
            </a:r>
          </a:p>
          <a:p>
            <a:pPr algn="l" marL="474981" indent="-237491" lvl="1">
              <a:lnSpc>
                <a:spcPts val="3080"/>
              </a:lnSpc>
              <a:buFont typeface="Arial"/>
              <a:buChar char="•"/>
            </a:pPr>
            <a:r>
              <a:rPr lang="en-US" sz="2200" u="sng">
                <a:solidFill>
                  <a:srgbClr val="355763"/>
                </a:solidFill>
                <a:latin typeface="Arimo"/>
                <a:ea typeface="Arimo"/>
                <a:cs typeface="Arimo"/>
                <a:sym typeface="Arimo"/>
                <a:hlinkClick r:id="rId9" tooltip="https://www.sanidad.gob.es/estadEstudios/estadisticas/encuestaSaludEspana/ESdE2023/ESdE2023_MOD3_REL.xlsx"/>
              </a:rPr>
              <a:t>Encuesta </a:t>
            </a:r>
            <a:r>
              <a:rPr lang="en-US" sz="2200" u="sng">
                <a:solidFill>
                  <a:srgbClr val="355763"/>
                </a:solidFill>
                <a:latin typeface="Arimo"/>
                <a:ea typeface="Arimo"/>
                <a:cs typeface="Arimo"/>
                <a:sym typeface="Arimo"/>
                <a:hlinkClick r:id="rId10" tooltip="https://www.sanidad.gob.es/estadEstudios/estadisticas/encuestaSaludEspana/ESdE2023/ESdE2023_MOD3_REL.xlsx"/>
              </a:rPr>
              <a:t>de Salud de España 2023. Ministerio de Sanidad.</a:t>
            </a:r>
          </a:p>
          <a:p>
            <a:pPr algn="l" marL="474981" indent="-237491" lvl="1">
              <a:lnSpc>
                <a:spcPts val="3080"/>
              </a:lnSpc>
              <a:buFont typeface="Arial"/>
              <a:buChar char="•"/>
            </a:pPr>
            <a:r>
              <a:rPr lang="en-US" sz="2200" u="sng">
                <a:solidFill>
                  <a:srgbClr val="355763"/>
                </a:solidFill>
                <a:latin typeface="Arimo"/>
                <a:ea typeface="Arimo"/>
                <a:cs typeface="Arimo"/>
                <a:sym typeface="Arimo"/>
                <a:hlinkClick r:id="rId11" tooltip="https://www.ine.es/jaxiT3/Tabla.htm?t=67988"/>
              </a:rPr>
              <a:t>Censo Anual de Población. 2023. INE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2F3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true" rot="-9104713">
            <a:off x="-1042019" y="-1226077"/>
            <a:ext cx="4718601" cy="5585450"/>
          </a:xfrm>
          <a:custGeom>
            <a:avLst/>
            <a:gdLst/>
            <a:ahLst/>
            <a:cxnLst/>
            <a:rect r="r" b="b" t="t" l="l"/>
            <a:pathLst>
              <a:path h="5585450" w="4718601">
                <a:moveTo>
                  <a:pt x="4718601" y="5585450"/>
                </a:moveTo>
                <a:lnTo>
                  <a:pt x="0" y="5585450"/>
                </a:lnTo>
                <a:lnTo>
                  <a:pt x="0" y="0"/>
                </a:lnTo>
                <a:lnTo>
                  <a:pt x="4718601" y="0"/>
                </a:lnTo>
                <a:lnTo>
                  <a:pt x="4718601" y="558545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4621635">
            <a:off x="7316331" y="7935241"/>
            <a:ext cx="4718601" cy="5585450"/>
          </a:xfrm>
          <a:custGeom>
            <a:avLst/>
            <a:gdLst/>
            <a:ahLst/>
            <a:cxnLst/>
            <a:rect r="r" b="b" t="t" l="l"/>
            <a:pathLst>
              <a:path h="5585450" w="4718601">
                <a:moveTo>
                  <a:pt x="4718602" y="5585450"/>
                </a:moveTo>
                <a:lnTo>
                  <a:pt x="0" y="5585450"/>
                </a:lnTo>
                <a:lnTo>
                  <a:pt x="0" y="0"/>
                </a:lnTo>
                <a:lnTo>
                  <a:pt x="4718602" y="0"/>
                </a:lnTo>
                <a:lnTo>
                  <a:pt x="4718602" y="558545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3595655" y="7801950"/>
            <a:ext cx="4692345" cy="2021974"/>
          </a:xfrm>
          <a:custGeom>
            <a:avLst/>
            <a:gdLst/>
            <a:ahLst/>
            <a:cxnLst/>
            <a:rect r="r" b="b" t="t" l="l"/>
            <a:pathLst>
              <a:path h="2021974" w="4692345">
                <a:moveTo>
                  <a:pt x="0" y="0"/>
                </a:moveTo>
                <a:lnTo>
                  <a:pt x="4692345" y="0"/>
                </a:lnTo>
                <a:lnTo>
                  <a:pt x="4692345" y="2021974"/>
                </a:lnTo>
                <a:lnTo>
                  <a:pt x="0" y="202197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4186002" y="259547"/>
            <a:ext cx="9915996" cy="7542403"/>
          </a:xfrm>
          <a:custGeom>
            <a:avLst/>
            <a:gdLst/>
            <a:ahLst/>
            <a:cxnLst/>
            <a:rect r="r" b="b" t="t" l="l"/>
            <a:pathLst>
              <a:path h="7542403" w="9915996">
                <a:moveTo>
                  <a:pt x="0" y="0"/>
                </a:moveTo>
                <a:lnTo>
                  <a:pt x="9915996" y="0"/>
                </a:lnTo>
                <a:lnTo>
                  <a:pt x="9915996" y="7542403"/>
                </a:lnTo>
                <a:lnTo>
                  <a:pt x="0" y="754240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820221" y="8111227"/>
            <a:ext cx="14647557" cy="11470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500"/>
              </a:lnSpc>
            </a:pPr>
            <a:r>
              <a:rPr lang="en-US" b="true" sz="3214" i="true">
                <a:solidFill>
                  <a:srgbClr val="355763"/>
                </a:solidFill>
                <a:latin typeface="Arimo Bold Italics"/>
                <a:ea typeface="Arimo Bold Italics"/>
                <a:cs typeface="Arimo Bold Italics"/>
                <a:sym typeface="Arimo Bold Italics"/>
              </a:rPr>
              <a:t>Figura 1. </a:t>
            </a:r>
            <a:r>
              <a:rPr lang="en-US" sz="3214" i="true">
                <a:solidFill>
                  <a:srgbClr val="355763"/>
                </a:solidFill>
                <a:latin typeface="Arimo Italics"/>
                <a:ea typeface="Arimo Italics"/>
                <a:cs typeface="Arimo Italics"/>
                <a:sym typeface="Arimo Italics"/>
              </a:rPr>
              <a:t>Análsis de la densidad de puntos de venta de tabaco y renta censal en Valencia, excepto el distrito 19 (l'Albufera)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2F3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true" rot="-2295030">
            <a:off x="15229785" y="-2991388"/>
            <a:ext cx="4865865" cy="5759767"/>
          </a:xfrm>
          <a:custGeom>
            <a:avLst/>
            <a:gdLst/>
            <a:ahLst/>
            <a:cxnLst/>
            <a:rect r="r" b="b" t="t" l="l"/>
            <a:pathLst>
              <a:path h="5759767" w="4865865">
                <a:moveTo>
                  <a:pt x="4865865" y="5759767"/>
                </a:moveTo>
                <a:lnTo>
                  <a:pt x="0" y="5759767"/>
                </a:lnTo>
                <a:lnTo>
                  <a:pt x="0" y="0"/>
                </a:lnTo>
                <a:lnTo>
                  <a:pt x="4865865" y="0"/>
                </a:lnTo>
                <a:lnTo>
                  <a:pt x="4865865" y="5759767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-2295030">
            <a:off x="12531365" y="7358672"/>
            <a:ext cx="4865865" cy="5759767"/>
          </a:xfrm>
          <a:custGeom>
            <a:avLst/>
            <a:gdLst/>
            <a:ahLst/>
            <a:cxnLst/>
            <a:rect r="r" b="b" t="t" l="l"/>
            <a:pathLst>
              <a:path h="5759767" w="4865865">
                <a:moveTo>
                  <a:pt x="4865865" y="5759768"/>
                </a:moveTo>
                <a:lnTo>
                  <a:pt x="0" y="5759768"/>
                </a:lnTo>
                <a:lnTo>
                  <a:pt x="0" y="0"/>
                </a:lnTo>
                <a:lnTo>
                  <a:pt x="4865865" y="0"/>
                </a:lnTo>
                <a:lnTo>
                  <a:pt x="4865865" y="5759768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028700" y="-142162"/>
            <a:ext cx="10963432" cy="8339114"/>
          </a:xfrm>
          <a:custGeom>
            <a:avLst/>
            <a:gdLst/>
            <a:ahLst/>
            <a:cxnLst/>
            <a:rect r="r" b="b" t="t" l="l"/>
            <a:pathLst>
              <a:path h="8339114" w="10963432">
                <a:moveTo>
                  <a:pt x="0" y="0"/>
                </a:moveTo>
                <a:lnTo>
                  <a:pt x="10963432" y="0"/>
                </a:lnTo>
                <a:lnTo>
                  <a:pt x="10963432" y="8339114"/>
                </a:lnTo>
                <a:lnTo>
                  <a:pt x="0" y="833911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2396489" y="3417268"/>
            <a:ext cx="5620781" cy="1726232"/>
          </a:xfrm>
          <a:custGeom>
            <a:avLst/>
            <a:gdLst/>
            <a:ahLst/>
            <a:cxnLst/>
            <a:rect r="r" b="b" t="t" l="l"/>
            <a:pathLst>
              <a:path h="1726232" w="5620781">
                <a:moveTo>
                  <a:pt x="0" y="0"/>
                </a:moveTo>
                <a:lnTo>
                  <a:pt x="5620781" y="0"/>
                </a:lnTo>
                <a:lnTo>
                  <a:pt x="5620781" y="1726232"/>
                </a:lnTo>
                <a:lnTo>
                  <a:pt x="0" y="172623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820221" y="8111227"/>
            <a:ext cx="14647557" cy="11470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500"/>
              </a:lnSpc>
            </a:pPr>
            <a:r>
              <a:rPr lang="en-US" b="true" sz="3214" i="true">
                <a:solidFill>
                  <a:srgbClr val="355763"/>
                </a:solidFill>
                <a:latin typeface="Arimo Bold Italics"/>
                <a:ea typeface="Arimo Bold Italics"/>
                <a:cs typeface="Arimo Bold Italics"/>
                <a:sym typeface="Arimo Bold Italics"/>
              </a:rPr>
              <a:t>Figura 2. </a:t>
            </a:r>
            <a:r>
              <a:rPr lang="en-US" sz="3214" i="true">
                <a:solidFill>
                  <a:srgbClr val="355763"/>
                </a:solidFill>
                <a:latin typeface="Arimo Italics"/>
                <a:ea typeface="Arimo Italics"/>
                <a:cs typeface="Arimo Italics"/>
                <a:sym typeface="Arimo Italics"/>
              </a:rPr>
              <a:t>Mapa LISA bivarainte y mapa de significatividad del nº de puntos de venta de tabaco y renta por sección censal valenciana, excepto el distrito 19.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2F3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true" rot="-2295030">
            <a:off x="-2247594" y="-1973635"/>
            <a:ext cx="4865865" cy="5759767"/>
          </a:xfrm>
          <a:custGeom>
            <a:avLst/>
            <a:gdLst/>
            <a:ahLst/>
            <a:cxnLst/>
            <a:rect r="r" b="b" t="t" l="l"/>
            <a:pathLst>
              <a:path h="5759767" w="4865865">
                <a:moveTo>
                  <a:pt x="4865865" y="5759768"/>
                </a:moveTo>
                <a:lnTo>
                  <a:pt x="0" y="5759768"/>
                </a:lnTo>
                <a:lnTo>
                  <a:pt x="0" y="0"/>
                </a:lnTo>
                <a:lnTo>
                  <a:pt x="4865865" y="0"/>
                </a:lnTo>
                <a:lnTo>
                  <a:pt x="4865865" y="5759768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9973905">
            <a:off x="15855068" y="-1973635"/>
            <a:ext cx="4865865" cy="5759767"/>
          </a:xfrm>
          <a:custGeom>
            <a:avLst/>
            <a:gdLst/>
            <a:ahLst/>
            <a:cxnLst/>
            <a:rect r="r" b="b" t="t" l="l"/>
            <a:pathLst>
              <a:path h="5759767" w="4865865">
                <a:moveTo>
                  <a:pt x="4865864" y="5759768"/>
                </a:moveTo>
                <a:lnTo>
                  <a:pt x="0" y="5759768"/>
                </a:lnTo>
                <a:lnTo>
                  <a:pt x="0" y="0"/>
                </a:lnTo>
                <a:lnTo>
                  <a:pt x="4865864" y="0"/>
                </a:lnTo>
                <a:lnTo>
                  <a:pt x="4865864" y="5759768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028700" y="0"/>
            <a:ext cx="10758657" cy="8183357"/>
          </a:xfrm>
          <a:custGeom>
            <a:avLst/>
            <a:gdLst/>
            <a:ahLst/>
            <a:cxnLst/>
            <a:rect r="r" b="b" t="t" l="l"/>
            <a:pathLst>
              <a:path h="8183357" w="10758657">
                <a:moveTo>
                  <a:pt x="0" y="0"/>
                </a:moveTo>
                <a:lnTo>
                  <a:pt x="10758657" y="0"/>
                </a:lnTo>
                <a:lnTo>
                  <a:pt x="10758657" y="8183357"/>
                </a:lnTo>
                <a:lnTo>
                  <a:pt x="0" y="818335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2716192" y="3292553"/>
            <a:ext cx="5046769" cy="1598250"/>
          </a:xfrm>
          <a:custGeom>
            <a:avLst/>
            <a:gdLst/>
            <a:ahLst/>
            <a:cxnLst/>
            <a:rect r="r" b="b" t="t" l="l"/>
            <a:pathLst>
              <a:path h="1598250" w="5046769">
                <a:moveTo>
                  <a:pt x="0" y="0"/>
                </a:moveTo>
                <a:lnTo>
                  <a:pt x="5046769" y="0"/>
                </a:lnTo>
                <a:lnTo>
                  <a:pt x="5046769" y="1598250"/>
                </a:lnTo>
                <a:lnTo>
                  <a:pt x="0" y="159825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820221" y="8111227"/>
            <a:ext cx="14647557" cy="11470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500"/>
              </a:lnSpc>
            </a:pPr>
            <a:r>
              <a:rPr lang="en-US" b="true" sz="3214" i="true">
                <a:solidFill>
                  <a:srgbClr val="355763"/>
                </a:solidFill>
                <a:latin typeface="Arimo Bold Italics"/>
                <a:ea typeface="Arimo Bold Italics"/>
                <a:cs typeface="Arimo Bold Italics"/>
                <a:sym typeface="Arimo Bold Italics"/>
              </a:rPr>
              <a:t>Figura 3. </a:t>
            </a:r>
            <a:r>
              <a:rPr lang="en-US" sz="3214" i="true">
                <a:solidFill>
                  <a:srgbClr val="355763"/>
                </a:solidFill>
                <a:latin typeface="Arimo Italics"/>
                <a:ea typeface="Arimo Italics"/>
                <a:cs typeface="Arimo Italics"/>
                <a:sym typeface="Arimo Italics"/>
              </a:rPr>
              <a:t>Mapa LISA bivarainte y mapa de defunciones por enfermedades pulmonares y tabaquismo en España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2F3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true" rot="-2295030">
            <a:off x="14826368" y="7312337"/>
            <a:ext cx="4865865" cy="5759767"/>
          </a:xfrm>
          <a:custGeom>
            <a:avLst/>
            <a:gdLst/>
            <a:ahLst/>
            <a:cxnLst/>
            <a:rect r="r" b="b" t="t" l="l"/>
            <a:pathLst>
              <a:path h="5759767" w="4865865">
                <a:moveTo>
                  <a:pt x="4865864" y="5759768"/>
                </a:moveTo>
                <a:lnTo>
                  <a:pt x="0" y="5759768"/>
                </a:lnTo>
                <a:lnTo>
                  <a:pt x="0" y="0"/>
                </a:lnTo>
                <a:lnTo>
                  <a:pt x="4865864" y="0"/>
                </a:lnTo>
                <a:lnTo>
                  <a:pt x="4865864" y="5759768"/>
                </a:lnTo>
                <a:close/>
              </a:path>
            </a:pathLst>
          </a:custGeom>
          <a:blipFill>
            <a:blip r:embed="rId2">
              <a:alphaModFix amt="71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2432932" y="1197718"/>
            <a:ext cx="4865865" cy="5759767"/>
          </a:xfrm>
          <a:custGeom>
            <a:avLst/>
            <a:gdLst/>
            <a:ahLst/>
            <a:cxnLst/>
            <a:rect r="r" b="b" t="t" l="l"/>
            <a:pathLst>
              <a:path h="5759767" w="4865865">
                <a:moveTo>
                  <a:pt x="0" y="0"/>
                </a:moveTo>
                <a:lnTo>
                  <a:pt x="4865864" y="0"/>
                </a:lnTo>
                <a:lnTo>
                  <a:pt x="4865864" y="5759767"/>
                </a:lnTo>
                <a:lnTo>
                  <a:pt x="0" y="575976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true" rot="-2295030">
            <a:off x="3017519" y="-2879884"/>
            <a:ext cx="4865865" cy="5759767"/>
          </a:xfrm>
          <a:custGeom>
            <a:avLst/>
            <a:gdLst/>
            <a:ahLst/>
            <a:cxnLst/>
            <a:rect r="r" b="b" t="t" l="l"/>
            <a:pathLst>
              <a:path h="5759767" w="4865865">
                <a:moveTo>
                  <a:pt x="4865865" y="5759768"/>
                </a:moveTo>
                <a:lnTo>
                  <a:pt x="0" y="5759768"/>
                </a:lnTo>
                <a:lnTo>
                  <a:pt x="0" y="0"/>
                </a:lnTo>
                <a:lnTo>
                  <a:pt x="4865865" y="0"/>
                </a:lnTo>
                <a:lnTo>
                  <a:pt x="4865865" y="5759768"/>
                </a:lnTo>
                <a:close/>
              </a:path>
            </a:pathLst>
          </a:custGeom>
          <a:blipFill>
            <a:blip r:embed="rId2">
              <a:alphaModFix amt="71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2770431" y="1197718"/>
            <a:ext cx="4488869" cy="2381203"/>
          </a:xfrm>
          <a:custGeom>
            <a:avLst/>
            <a:gdLst/>
            <a:ahLst/>
            <a:cxnLst/>
            <a:rect r="r" b="b" t="t" l="l"/>
            <a:pathLst>
              <a:path h="2381203" w="4488869">
                <a:moveTo>
                  <a:pt x="0" y="0"/>
                </a:moveTo>
                <a:lnTo>
                  <a:pt x="4488869" y="0"/>
                </a:lnTo>
                <a:lnTo>
                  <a:pt x="4488869" y="2381203"/>
                </a:lnTo>
                <a:lnTo>
                  <a:pt x="0" y="238120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392802" y="5807490"/>
            <a:ext cx="7386642" cy="13195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056"/>
              </a:lnSpc>
            </a:pPr>
            <a:r>
              <a:rPr lang="en-US" sz="9226">
                <a:solidFill>
                  <a:srgbClr val="355763"/>
                </a:solidFill>
                <a:latin typeface="Futura Display"/>
                <a:ea typeface="Futura Display"/>
                <a:cs typeface="Futura Display"/>
                <a:sym typeface="Futura Display"/>
              </a:rPr>
              <a:t>ANEXOS: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392802" y="7041279"/>
            <a:ext cx="12172950" cy="28615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94043" indent="-347021" lvl="1">
              <a:lnSpc>
                <a:spcPts val="4500"/>
              </a:lnSpc>
              <a:buFont typeface="Arial"/>
              <a:buChar char="•"/>
            </a:pPr>
            <a:r>
              <a:rPr lang="en-US" sz="3214">
                <a:solidFill>
                  <a:srgbClr val="355763"/>
                </a:solidFill>
                <a:latin typeface="Arimo"/>
                <a:ea typeface="Arimo"/>
                <a:cs typeface="Arimo"/>
                <a:sym typeface="Arimo"/>
              </a:rPr>
              <a:t>Análisis de Moran univariante</a:t>
            </a:r>
          </a:p>
          <a:p>
            <a:pPr algn="l" marL="694043" indent="-347021" lvl="1">
              <a:lnSpc>
                <a:spcPts val="4500"/>
              </a:lnSpc>
              <a:buFont typeface="Arial"/>
              <a:buChar char="•"/>
            </a:pPr>
            <a:r>
              <a:rPr lang="en-US" sz="3214">
                <a:solidFill>
                  <a:srgbClr val="355763"/>
                </a:solidFill>
                <a:latin typeface="Arimo"/>
                <a:ea typeface="Arimo"/>
                <a:cs typeface="Arimo"/>
                <a:sym typeface="Arimo"/>
              </a:rPr>
              <a:t>Distribución espacial de los estancos y PVRs</a:t>
            </a:r>
          </a:p>
          <a:p>
            <a:pPr algn="l" marL="694043" indent="-347021" lvl="1">
              <a:lnSpc>
                <a:spcPts val="4500"/>
              </a:lnSpc>
              <a:buFont typeface="Arial"/>
              <a:buChar char="•"/>
            </a:pPr>
            <a:r>
              <a:rPr lang="en-US" sz="3214">
                <a:solidFill>
                  <a:srgbClr val="355763"/>
                </a:solidFill>
                <a:latin typeface="Arimo"/>
                <a:ea typeface="Arimo"/>
                <a:cs typeface="Arimo"/>
                <a:sym typeface="Arimo"/>
              </a:rPr>
              <a:t>Código y bases de datos</a:t>
            </a:r>
          </a:p>
          <a:p>
            <a:pPr algn="l">
              <a:lnSpc>
                <a:spcPts val="4500"/>
              </a:lnSpc>
            </a:pPr>
          </a:p>
          <a:p>
            <a:pPr algn="l">
              <a:lnSpc>
                <a:spcPts val="4500"/>
              </a:lnSpc>
            </a:pPr>
            <a:r>
              <a:rPr lang="en-US" sz="3214">
                <a:solidFill>
                  <a:srgbClr val="355763"/>
                </a:solidFill>
                <a:latin typeface="Arimo"/>
                <a:ea typeface="Arimo"/>
                <a:cs typeface="Arimo"/>
                <a:sym typeface="Arimo"/>
              </a:rPr>
              <a:t>Disponibles a través </a:t>
            </a:r>
            <a:r>
              <a:rPr lang="en-US" sz="3214" u="sng">
                <a:solidFill>
                  <a:srgbClr val="355763"/>
                </a:solidFill>
                <a:latin typeface="Arimo"/>
                <a:ea typeface="Arimo"/>
                <a:cs typeface="Arimo"/>
                <a:sym typeface="Arimo"/>
                <a:hlinkClick r:id="rId6" tooltip="https://github.com/Bombarderx/DEE---Trabajo-Final/tree/main"/>
              </a:rPr>
              <a:t>del repositorio de github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392802" y="1283443"/>
            <a:ext cx="7386642" cy="38722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056"/>
              </a:lnSpc>
            </a:pPr>
            <a:r>
              <a:rPr lang="en-US" sz="9226">
                <a:solidFill>
                  <a:srgbClr val="355763"/>
                </a:solidFill>
                <a:latin typeface="Futura Display"/>
                <a:ea typeface="Futura Display"/>
                <a:cs typeface="Futura Display"/>
                <a:sym typeface="Futura Display"/>
              </a:rPr>
              <a:t>CONCLUSIONES:</a:t>
            </a:r>
          </a:p>
          <a:p>
            <a:pPr algn="l">
              <a:lnSpc>
                <a:spcPts val="10056"/>
              </a:lnSpc>
            </a:pPr>
          </a:p>
          <a:p>
            <a:pPr algn="l">
              <a:lnSpc>
                <a:spcPts val="10056"/>
              </a:lnSpc>
            </a:pPr>
          </a:p>
        </p:txBody>
      </p:sp>
      <p:sp>
        <p:nvSpPr>
          <p:cNvPr name="TextBox 9" id="9"/>
          <p:cNvSpPr txBox="true"/>
          <p:nvPr/>
        </p:nvSpPr>
        <p:spPr>
          <a:xfrm rot="0">
            <a:off x="1392802" y="2860192"/>
            <a:ext cx="10320288" cy="28615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94043" indent="-347021" lvl="1">
              <a:lnSpc>
                <a:spcPts val="4500"/>
              </a:lnSpc>
              <a:buFont typeface="Arial"/>
              <a:buChar char="•"/>
            </a:pPr>
            <a:r>
              <a:rPr lang="en-US" sz="3214">
                <a:solidFill>
                  <a:srgbClr val="355763"/>
                </a:solidFill>
                <a:latin typeface="Arimo"/>
                <a:ea typeface="Arimo"/>
                <a:cs typeface="Arimo"/>
                <a:sym typeface="Arimo"/>
              </a:rPr>
              <a:t>Ausencia de correlación autonómica</a:t>
            </a:r>
          </a:p>
          <a:p>
            <a:pPr algn="l" marL="694043" indent="-347021" lvl="1">
              <a:lnSpc>
                <a:spcPts val="4500"/>
              </a:lnSpc>
              <a:buFont typeface="Arial"/>
              <a:buChar char="•"/>
            </a:pPr>
            <a:r>
              <a:rPr lang="en-US" sz="3214">
                <a:solidFill>
                  <a:srgbClr val="355763"/>
                </a:solidFill>
                <a:latin typeface="Arimo"/>
                <a:ea typeface="Arimo"/>
                <a:cs typeface="Arimo"/>
                <a:sym typeface="Arimo"/>
              </a:rPr>
              <a:t>Saturación de puntos de venta españoles</a:t>
            </a:r>
          </a:p>
          <a:p>
            <a:pPr algn="l" marL="694043" indent="-347021" lvl="1">
              <a:lnSpc>
                <a:spcPts val="4500"/>
              </a:lnSpc>
              <a:buFont typeface="Arial"/>
              <a:buChar char="•"/>
            </a:pPr>
            <a:r>
              <a:rPr lang="en-US" sz="3214">
                <a:solidFill>
                  <a:srgbClr val="355763"/>
                </a:solidFill>
                <a:latin typeface="Arimo"/>
                <a:ea typeface="Arimo"/>
                <a:cs typeface="Arimo"/>
                <a:sym typeface="Arimo"/>
              </a:rPr>
              <a:t>Necesidad de anális</a:t>
            </a:r>
            <a:r>
              <a:rPr lang="en-US" sz="3214">
                <a:solidFill>
                  <a:srgbClr val="355763"/>
                </a:solidFill>
                <a:latin typeface="Arimo"/>
                <a:ea typeface="Arimo"/>
                <a:cs typeface="Arimo"/>
                <a:sym typeface="Arimo"/>
              </a:rPr>
              <a:t>is municipales granu</a:t>
            </a:r>
            <a:r>
              <a:rPr lang="en-US" sz="3214" u="none">
                <a:solidFill>
                  <a:srgbClr val="355763"/>
                </a:solidFill>
                <a:latin typeface="Arimo"/>
                <a:ea typeface="Arimo"/>
                <a:cs typeface="Arimo"/>
                <a:sym typeface="Arimo"/>
              </a:rPr>
              <a:t>l</a:t>
            </a:r>
            <a:r>
              <a:rPr lang="en-US" sz="3214">
                <a:solidFill>
                  <a:srgbClr val="355763"/>
                </a:solidFill>
                <a:latin typeface="Arimo"/>
                <a:ea typeface="Arimo"/>
                <a:cs typeface="Arimo"/>
                <a:sym typeface="Arimo"/>
              </a:rPr>
              <a:t>a</a:t>
            </a:r>
            <a:r>
              <a:rPr lang="en-US" sz="3214" u="none">
                <a:solidFill>
                  <a:srgbClr val="355763"/>
                </a:solidFill>
                <a:latin typeface="Arimo"/>
                <a:ea typeface="Arimo"/>
                <a:cs typeface="Arimo"/>
                <a:sym typeface="Arimo"/>
              </a:rPr>
              <a:t>re</a:t>
            </a:r>
            <a:r>
              <a:rPr lang="en-US" sz="3214">
                <a:solidFill>
                  <a:srgbClr val="355763"/>
                </a:solidFill>
                <a:latin typeface="Arimo"/>
                <a:ea typeface="Arimo"/>
                <a:cs typeface="Arimo"/>
                <a:sym typeface="Arimo"/>
              </a:rPr>
              <a:t>s y consideración de otros factores sociodemográficos</a:t>
            </a:r>
          </a:p>
          <a:p>
            <a:pPr algn="l">
              <a:lnSpc>
                <a:spcPts val="4500"/>
              </a:lnSpc>
            </a:pP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6FA4A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258065" y="4311224"/>
            <a:ext cx="14106767" cy="24478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676"/>
              </a:lnSpc>
            </a:pPr>
            <a:r>
              <a:rPr lang="en-US" sz="17134">
                <a:solidFill>
                  <a:srgbClr val="FFFFFF"/>
                </a:solidFill>
                <a:latin typeface="Futura Display"/>
                <a:ea typeface="Futura Display"/>
                <a:cs typeface="Futura Display"/>
                <a:sym typeface="Futura Display"/>
              </a:rPr>
              <a:t>MUCHAS GRACIAS</a:t>
            </a:r>
          </a:p>
        </p:txBody>
      </p:sp>
      <p:sp>
        <p:nvSpPr>
          <p:cNvPr name="Freeform 3" id="3"/>
          <p:cNvSpPr/>
          <p:nvPr/>
        </p:nvSpPr>
        <p:spPr>
          <a:xfrm flipH="true" flipV="false" rot="-8710788">
            <a:off x="-1208875" y="-2484031"/>
            <a:ext cx="4865865" cy="5759767"/>
          </a:xfrm>
          <a:custGeom>
            <a:avLst/>
            <a:gdLst/>
            <a:ahLst/>
            <a:cxnLst/>
            <a:rect r="r" b="b" t="t" l="l"/>
            <a:pathLst>
              <a:path h="5759767" w="4865865">
                <a:moveTo>
                  <a:pt x="4865865" y="0"/>
                </a:moveTo>
                <a:lnTo>
                  <a:pt x="0" y="0"/>
                </a:lnTo>
                <a:lnTo>
                  <a:pt x="0" y="5759768"/>
                </a:lnTo>
                <a:lnTo>
                  <a:pt x="4865865" y="5759768"/>
                </a:lnTo>
                <a:lnTo>
                  <a:pt x="4865865" y="0"/>
                </a:lnTo>
                <a:close/>
              </a:path>
            </a:pathLst>
          </a:custGeom>
          <a:blipFill>
            <a:blip r:embed="rId2">
              <a:alphaModFix amt="71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2919646">
            <a:off x="15074454" y="5992500"/>
            <a:ext cx="4865865" cy="5759767"/>
          </a:xfrm>
          <a:custGeom>
            <a:avLst/>
            <a:gdLst/>
            <a:ahLst/>
            <a:cxnLst/>
            <a:rect r="r" b="b" t="t" l="l"/>
            <a:pathLst>
              <a:path h="5759767" w="4865865">
                <a:moveTo>
                  <a:pt x="4865865" y="0"/>
                </a:moveTo>
                <a:lnTo>
                  <a:pt x="0" y="0"/>
                </a:lnTo>
                <a:lnTo>
                  <a:pt x="0" y="5759768"/>
                </a:lnTo>
                <a:lnTo>
                  <a:pt x="4865865" y="5759768"/>
                </a:lnTo>
                <a:lnTo>
                  <a:pt x="4865865" y="0"/>
                </a:lnTo>
                <a:close/>
              </a:path>
            </a:pathLst>
          </a:custGeom>
          <a:blipFill>
            <a:blip r:embed="rId2">
              <a:alphaModFix amt="71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DAHLotK8Hr0</dc:identifier>
  <dcterms:modified xsi:type="dcterms:W3CDTF">2011-08-01T06:04:30Z</dcterms:modified>
  <cp:revision>1</cp:revision>
  <dc:title>PROYECTO FINAL - EXPOSICIÓN</dc:title>
</cp:coreProperties>
</file>